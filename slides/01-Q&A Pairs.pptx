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1"/>
  </p:notesMasterIdLst>
  <p:sldIdLst>
    <p:sldId id="256" r:id="rId5"/>
    <p:sldId id="257" r:id="rId6"/>
    <p:sldId id="258" r:id="rId7"/>
    <p:sldId id="264" r:id="rId8"/>
    <p:sldId id="265" r:id="rId9"/>
    <p:sldId id="266" r:id="rId10"/>
    <p:sldId id="267" r:id="rId11"/>
    <p:sldId id="268" r:id="rId12"/>
    <p:sldId id="269" r:id="rId13"/>
    <p:sldId id="259" r:id="rId14"/>
    <p:sldId id="260" r:id="rId15"/>
    <p:sldId id="261" r:id="rId16"/>
    <p:sldId id="262" r:id="rId17"/>
    <p:sldId id="263" r:id="rId18"/>
    <p:sldId id="270" r:id="rId19"/>
    <p:sldId id="27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1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3F3"/>
    <a:srgbClr val="FFCD00"/>
    <a:srgbClr val="FBB031"/>
    <a:srgbClr val="E32726"/>
    <a:srgbClr val="D60057"/>
    <a:srgbClr val="8B857B"/>
    <a:srgbClr val="FFD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84037E-3189-4615-A1F4-77272A3BD561}" v="3" dt="2026-01-20T19:47:35.4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075"/>
    <p:restoredTop sz="94647"/>
  </p:normalViewPr>
  <p:slideViewPr>
    <p:cSldViewPr snapToGrid="0" snapToObjects="1" showGuides="1">
      <p:cViewPr varScale="1">
        <p:scale>
          <a:sx n="78" d="100"/>
          <a:sy n="78" d="100"/>
        </p:scale>
        <p:origin x="1152" y="62"/>
      </p:cViewPr>
      <p:guideLst>
        <p:guide orient="horz" pos="411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ashayar Ghorab" userId="9912e139-cece-475e-aa56-e624b5f117d1" providerId="ADAL" clId="{A40AC99F-F4C7-4B86-BACF-032EC77C5906}"/>
    <pc:docChg chg="modSld">
      <pc:chgData name="Khashayar Ghorab" userId="9912e139-cece-475e-aa56-e624b5f117d1" providerId="ADAL" clId="{A40AC99F-F4C7-4B86-BACF-032EC77C5906}" dt="2026-01-20T19:47:55.120" v="2" actId="113"/>
      <pc:docMkLst>
        <pc:docMk/>
      </pc:docMkLst>
      <pc:sldChg chg="modSp mod">
        <pc:chgData name="Khashayar Ghorab" userId="9912e139-cece-475e-aa56-e624b5f117d1" providerId="ADAL" clId="{A40AC99F-F4C7-4B86-BACF-032EC77C5906}" dt="2026-01-20T19:47:55.120" v="2" actId="113"/>
        <pc:sldMkLst>
          <pc:docMk/>
          <pc:sldMk cId="799801609" sldId="270"/>
        </pc:sldMkLst>
        <pc:spChg chg="mod">
          <ac:chgData name="Khashayar Ghorab" userId="9912e139-cece-475e-aa56-e624b5f117d1" providerId="ADAL" clId="{A40AC99F-F4C7-4B86-BACF-032EC77C5906}" dt="2026-01-20T19:47:55.120" v="2" actId="113"/>
          <ac:spMkLst>
            <pc:docMk/>
            <pc:sldMk cId="799801609" sldId="270"/>
            <ac:spMk id="3" creationId="{9DC03810-660D-7379-5223-270FB159E5EF}"/>
          </ac:spMkLst>
        </pc:spChg>
      </pc:sldChg>
      <pc:sldChg chg="modSp">
        <pc:chgData name="Khashayar Ghorab" userId="9912e139-cece-475e-aa56-e624b5f117d1" providerId="ADAL" clId="{A40AC99F-F4C7-4B86-BACF-032EC77C5906}" dt="2026-01-20T19:47:35.494" v="1"/>
        <pc:sldMkLst>
          <pc:docMk/>
          <pc:sldMk cId="3118756218" sldId="271"/>
        </pc:sldMkLst>
        <pc:spChg chg="mod">
          <ac:chgData name="Khashayar Ghorab" userId="9912e139-cece-475e-aa56-e624b5f117d1" providerId="ADAL" clId="{A40AC99F-F4C7-4B86-BACF-032EC77C5906}" dt="2026-01-20T19:47:35.494" v="1"/>
          <ac:spMkLst>
            <pc:docMk/>
            <pc:sldMk cId="3118756218" sldId="271"/>
            <ac:spMk id="3" creationId="{EF64D264-8ECA-2E25-47DB-E6400E04ECD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2CACE1-0839-DD4E-8A8D-815B08AED9A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B58301-8E47-694C-884E-80E9D526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921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E78C2-47AD-C340-9456-D9F9B3D300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7178" y="720246"/>
            <a:ext cx="9144000" cy="234504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ts val="5600"/>
              </a:lnSpc>
              <a:defRPr sz="54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6038AA-9B5A-234E-B6E1-FE9722AB06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7178" y="3080490"/>
            <a:ext cx="9144000" cy="106562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600"/>
              </a:lnSpc>
              <a:spcBef>
                <a:spcPts val="0"/>
              </a:spcBef>
              <a:buNone/>
              <a:defRPr sz="2400" b="1">
                <a:solidFill>
                  <a:srgbClr val="FFCD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3FD472B-32E4-8A46-90E5-97757DC24E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7178" y="4158641"/>
            <a:ext cx="6586603" cy="186370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Presenter’s Name</a:t>
            </a:r>
            <a:br>
              <a:rPr lang="en-US" dirty="0"/>
            </a:br>
            <a:r>
              <a:rPr lang="en-US" dirty="0"/>
              <a:t>Presenter’s title / additional designations</a:t>
            </a:r>
            <a:br>
              <a:rPr lang="en-US" dirty="0"/>
            </a:br>
            <a:r>
              <a:rPr lang="en-US" dirty="0"/>
              <a:t>Faculty of / Department of / additional designations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5E4B113-E638-B640-8F48-252058659E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700" y="6022975"/>
            <a:ext cx="6586081" cy="52187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rgbClr val="FFCD00"/>
                </a:solidFill>
              </a:defRPr>
            </a:lvl1pPr>
          </a:lstStyle>
          <a:p>
            <a:pPr lvl="0"/>
            <a:r>
              <a:rPr lang="en-US" dirty="0"/>
              <a:t>Click to add date</a:t>
            </a:r>
          </a:p>
        </p:txBody>
      </p:sp>
    </p:spTree>
    <p:extLst>
      <p:ext uri="{BB962C8B-B14F-4D97-AF65-F5344CB8AC3E}">
        <p14:creationId xmlns:p14="http://schemas.microsoft.com/office/powerpoint/2010/main" val="3980296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A32D7-DB76-2847-ADA0-EE213BEBB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628" y="43841"/>
            <a:ext cx="10515600" cy="1033398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lnSpc>
                <a:spcPts val="3800"/>
              </a:lnSpc>
              <a:defRPr sz="36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7C696-28D5-3D4E-90D5-168D38046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628" y="1537526"/>
            <a:ext cx="10515600" cy="4351338"/>
          </a:xfrm>
          <a:prstGeom prst="rect">
            <a:avLst/>
          </a:prstGeom>
        </p:spPr>
        <p:txBody>
          <a:bodyPr/>
          <a:lstStyle>
            <a:lvl1pPr>
              <a:buClr>
                <a:srgbClr val="E32726"/>
              </a:buClr>
              <a:defRPr sz="2800"/>
            </a:lvl1pPr>
            <a:lvl2pPr>
              <a:buClr>
                <a:srgbClr val="FBB031"/>
              </a:buClr>
              <a:defRPr sz="2400"/>
            </a:lvl2pPr>
            <a:lvl3pPr>
              <a:buClr>
                <a:srgbClr val="8B857B"/>
              </a:buClr>
              <a:defRPr sz="2000"/>
            </a:lvl3pPr>
            <a:lvl4pPr>
              <a:buClr>
                <a:schemeClr val="accent3"/>
              </a:buClr>
              <a:defRPr sz="1800"/>
            </a:lvl4pPr>
            <a:lvl5pPr>
              <a:buClr>
                <a:schemeClr val="accent1"/>
              </a:buCl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54994-38BD-EA48-95B9-EDE63B92B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55740" y="636200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C35FCF4-C3EF-BD43-82E0-05BC237DAD2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1444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1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photo with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683A0EC-D117-3A44-A056-CF7521187A0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33864" y="1773021"/>
            <a:ext cx="3938587" cy="3938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C2CEEFA-DEDA-3C4E-B209-94546CDD8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7569" y="1773021"/>
            <a:ext cx="6013537" cy="3938587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defRPr sz="2800"/>
            </a:lvl1pPr>
            <a:lvl2pPr>
              <a:buClr>
                <a:srgbClr val="FBB031"/>
              </a:buClr>
              <a:defRPr sz="2400"/>
            </a:lvl2pPr>
            <a:lvl3pPr>
              <a:buClr>
                <a:srgbClr val="8B857B"/>
              </a:buClr>
              <a:defRPr sz="2000"/>
            </a:lvl3pPr>
            <a:lvl4pPr>
              <a:buClr>
                <a:schemeClr val="accent3"/>
              </a:buClr>
              <a:defRPr sz="1800"/>
            </a:lvl4pPr>
            <a:lvl5pPr>
              <a:buClr>
                <a:schemeClr val="accent1"/>
              </a:buCl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517A63FE-DB6D-1241-BC57-CEC263957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628" y="43841"/>
            <a:ext cx="10515600" cy="1033398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lnSpc>
                <a:spcPts val="3800"/>
              </a:lnSpc>
              <a:defRPr sz="36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D717515-6E81-0242-9075-57E188FF7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55740" y="636200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C35FCF4-C3EF-BD43-82E0-05BC237DAD2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733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photo with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683A0EC-D117-3A44-A056-CF7521187A0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33864" y="1655241"/>
            <a:ext cx="3982602" cy="22227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C2CEEFA-DEDA-3C4E-B209-94546CDD8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3864" y="4202482"/>
            <a:ext cx="3995802" cy="1835063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defRPr sz="2000"/>
            </a:lvl1pPr>
            <a:lvl2pPr>
              <a:buClr>
                <a:srgbClr val="FBB031"/>
              </a:buClr>
              <a:defRPr sz="1800"/>
            </a:lvl2pPr>
            <a:lvl3pPr>
              <a:buClr>
                <a:srgbClr val="8B857B"/>
              </a:buClr>
              <a:defRPr sz="1600"/>
            </a:lvl3pPr>
            <a:lvl4pPr>
              <a:buClr>
                <a:schemeClr val="accent3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517A63FE-DB6D-1241-BC57-CEC263957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628" y="43841"/>
            <a:ext cx="10515600" cy="1033398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lnSpc>
                <a:spcPts val="3800"/>
              </a:lnSpc>
              <a:defRPr sz="36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D717515-6E81-0242-9075-57E188FF7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55740" y="636200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C35FCF4-C3EF-BD43-82E0-05BC237DAD2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873EC9B2-3D79-EB42-BD2D-94A59CE5C32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240719" y="1655241"/>
            <a:ext cx="3982602" cy="22227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1D7853A-8D09-4041-8FD1-E58DBA8A7F0F}"/>
              </a:ext>
            </a:extLst>
          </p:cNvPr>
          <p:cNvCxnSpPr/>
          <p:nvPr userDrawn="1"/>
        </p:nvCxnSpPr>
        <p:spPr>
          <a:xfrm>
            <a:off x="6096000" y="1551313"/>
            <a:ext cx="0" cy="465342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EF50DEA-27DF-7C4E-AD5F-60F66ED518A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7240719" y="4202482"/>
            <a:ext cx="3995802" cy="1835063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defRPr sz="2000"/>
            </a:lvl1pPr>
            <a:lvl2pPr>
              <a:buClr>
                <a:srgbClr val="FBB031"/>
              </a:buClr>
              <a:defRPr sz="1800"/>
            </a:lvl2pPr>
            <a:lvl3pPr>
              <a:buClr>
                <a:srgbClr val="8B857B"/>
              </a:buClr>
              <a:defRPr sz="1600"/>
            </a:lvl3pPr>
            <a:lvl4pPr>
              <a:buClr>
                <a:schemeClr val="accent3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3883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0016D1F-0C29-D446-876E-DD6C096D73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95375" y="582460"/>
            <a:ext cx="8317935" cy="5668028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ts val="6200"/>
              </a:lnSpc>
              <a:spcBef>
                <a:spcPts val="0"/>
              </a:spcBef>
              <a:buNone/>
              <a:defRPr sz="60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This slide is for one big, bold statement. Bullet points can’t compete! </a:t>
            </a:r>
          </a:p>
        </p:txBody>
      </p:sp>
    </p:spTree>
    <p:extLst>
      <p:ext uri="{BB962C8B-B14F-4D97-AF65-F5344CB8AC3E}">
        <p14:creationId xmlns:p14="http://schemas.microsoft.com/office/powerpoint/2010/main" val="3997480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ding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E78C2-47AD-C340-9456-D9F9B3D3003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7178" y="720246"/>
            <a:ext cx="9144000" cy="234504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ts val="3800"/>
              </a:lnSpc>
              <a:defRPr sz="36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Thank you for attending! </a:t>
            </a:r>
            <a:br>
              <a:rPr lang="en-US" dirty="0"/>
            </a:br>
            <a:r>
              <a:rPr lang="en-US" dirty="0"/>
              <a:t>and/or other concluding message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6038AA-9B5A-234E-B6E1-FE9722AB065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7178" y="3080490"/>
            <a:ext cx="9144000" cy="106562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600"/>
              </a:lnSpc>
              <a:spcBef>
                <a:spcPts val="0"/>
              </a:spcBef>
              <a:buNone/>
              <a:defRPr sz="2400" b="1">
                <a:solidFill>
                  <a:srgbClr val="FFCD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For more information go to </a:t>
            </a:r>
            <a:r>
              <a:rPr lang="en-US" dirty="0" err="1"/>
              <a:t>ucalgary.ca</a:t>
            </a:r>
            <a:r>
              <a:rPr lang="en-US" dirty="0"/>
              <a:t>/</a:t>
            </a:r>
            <a:r>
              <a:rPr lang="en-US" dirty="0" err="1"/>
              <a:t>webaddress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3FD472B-32E4-8A46-90E5-97757DC24E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7178" y="4158641"/>
            <a:ext cx="6586603" cy="186370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Presenter’s Name</a:t>
            </a:r>
            <a:br>
              <a:rPr lang="en-US" dirty="0"/>
            </a:br>
            <a:r>
              <a:rPr lang="en-US" dirty="0" err="1"/>
              <a:t>presentersemail@ucalgary.ca</a:t>
            </a:r>
            <a:br>
              <a:rPr lang="en-US" dirty="0"/>
            </a:br>
            <a:r>
              <a:rPr lang="en-US" dirty="0"/>
              <a:t>Phone number / Twitter handle / additional contact info</a:t>
            </a:r>
          </a:p>
        </p:txBody>
      </p:sp>
    </p:spTree>
    <p:extLst>
      <p:ext uri="{BB962C8B-B14F-4D97-AF65-F5344CB8AC3E}">
        <p14:creationId xmlns:p14="http://schemas.microsoft.com/office/powerpoint/2010/main" val="1795914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9830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56" r:id="rId4"/>
    <p:sldLayoutId id="2147483654" r:id="rId5"/>
    <p:sldLayoutId id="2147483657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EA485-1CE4-D943-BF73-46F1F53E1F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How to Create High-Quality Q&amp;A Pairs from a Book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3511D1-7FCA-FB4B-9E50-F071C460FE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i-FI" dirty="0"/>
              <a:t>Using Llama 3.2 + Meta Synthetic Data Kit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C24C84-A742-DD4F-A936-BBDA5C8BB3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Khashayar Ghorab</a:t>
            </a:r>
          </a:p>
          <a:p>
            <a:r>
              <a:rPr lang="en-US" dirty="0"/>
              <a:t>Ph.D. Student in Project Management</a:t>
            </a:r>
          </a:p>
          <a:p>
            <a:r>
              <a:rPr lang="en-US" dirty="0"/>
              <a:t>Department of Civil Engineering </a:t>
            </a:r>
          </a:p>
          <a:p>
            <a:r>
              <a:rPr lang="en-US" dirty="0"/>
              <a:t>Schulich School of Engineering, University of Calgary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37332F-F808-E64C-8515-C367CB073A2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January 2026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729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B49FC-91C4-7E4C-B0DF-F13D8EA4B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Book to Q&amp;A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35D7C-6796-A142-AA52-64D0BC4724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Using Llama 3.2 + Meta Synthetic Data Kit</a:t>
            </a:r>
            <a:endParaRPr lang="en-US" dirty="0"/>
          </a:p>
          <a:p>
            <a:pPr lvl="1"/>
            <a:r>
              <a:rPr lang="en-US" dirty="0"/>
              <a:t>Goal: Turn any book into high-quality question–answer (QA) pairs</a:t>
            </a:r>
          </a:p>
          <a:p>
            <a:pPr lvl="1"/>
            <a:r>
              <a:rPr lang="en-US" dirty="0"/>
              <a:t>Use case: fine-tuning LLMs, building chatbots, study tools</a:t>
            </a:r>
          </a:p>
          <a:p>
            <a:pPr lvl="1"/>
            <a:r>
              <a:rPr lang="en-US" dirty="0"/>
              <a:t>Workflow inspired by Meta’s Synthetic Data Kit + </a:t>
            </a:r>
            <a:r>
              <a:rPr lang="en-US" dirty="0" err="1"/>
              <a:t>Unsloth</a:t>
            </a:r>
            <a:r>
              <a:rPr lang="en-US" dirty="0"/>
              <a:t> notebook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5BA6A9-CEA9-1F48-8C2B-13EE0DAE8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033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4C751-676F-6AFB-ED05-FE614E716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509D9-B342-A613-D4C0-5DF37ED49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Create QA Pairs from a Book?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3B849-9D69-E519-79BE-0CE184098C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Build domain-specific assistants (e.g., for a textbook or manual)</a:t>
            </a:r>
          </a:p>
          <a:p>
            <a:r>
              <a:rPr lang="en-US" dirty="0"/>
              <a:t>Create quiz / exam questions automatically</a:t>
            </a:r>
          </a:p>
          <a:p>
            <a:r>
              <a:rPr lang="en-US" dirty="0"/>
              <a:t>Generate training data for LLM fine-tuning</a:t>
            </a:r>
          </a:p>
          <a:p>
            <a:r>
              <a:rPr lang="en-US" dirty="0"/>
              <a:t>Support retrieval + QA systems with structured supervision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266B83-F0C6-3FBF-FE4C-20A569E6C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8657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E76FB-319A-6168-B411-925DEA2B4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30F13-A33C-FC4F-372C-7FF4F93A1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High-Level Pipeline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BE93C-59E8-A284-0916-A4D3286F01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b="1" dirty="0"/>
              <a:t>Book → Chunks → QA Pairs → Clean Dataset</a:t>
            </a:r>
          </a:p>
          <a:p>
            <a:endParaRPr lang="en-CA" dirty="0"/>
          </a:p>
          <a:p>
            <a:pPr lvl="1"/>
            <a:r>
              <a:rPr lang="en-CA" dirty="0"/>
              <a:t>Collect &amp; clean the book</a:t>
            </a:r>
          </a:p>
          <a:p>
            <a:pPr lvl="1"/>
            <a:r>
              <a:rPr lang="en-CA" dirty="0"/>
              <a:t>Split book into manageable text chunks</a:t>
            </a:r>
          </a:p>
          <a:p>
            <a:pPr lvl="1"/>
            <a:r>
              <a:rPr lang="en-CA" dirty="0"/>
              <a:t>Use LLM (Llama 3.2) to generate QA pairs from each chunk</a:t>
            </a:r>
          </a:p>
          <a:p>
            <a:pPr lvl="1"/>
            <a:r>
              <a:rPr lang="en-CA" dirty="0"/>
              <a:t>Filter &amp; clean the synthetic QA pairs</a:t>
            </a:r>
          </a:p>
          <a:p>
            <a:pPr lvl="1"/>
            <a:r>
              <a:rPr lang="en-CA" dirty="0"/>
              <a:t>Export to training-friendly format (e.g., JSONL)</a:t>
            </a:r>
          </a:p>
          <a:p>
            <a:pPr lvl="1"/>
            <a:r>
              <a:rPr lang="en-CA" dirty="0"/>
              <a:t>(Optional) Fine-tune a model on this dataset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F36F32-42FB-0185-8CCD-5C56A424B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2820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48778-59A0-B453-7B65-5F10B497A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F3A5D-00AD-2BDB-F429-BFCC44B98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1: Prepare the 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58381-63C3-DC80-EBA2-82A2ECF06F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Accepted formats (depending on the tool):</a:t>
            </a:r>
          </a:p>
          <a:p>
            <a:pPr lvl="1"/>
            <a:r>
              <a:rPr lang="en-US" dirty="0"/>
              <a:t>PDF, Word, HTML, plain text, etc.</a:t>
            </a:r>
          </a:p>
          <a:p>
            <a:r>
              <a:rPr lang="en-US" dirty="0"/>
              <a:t>Clean up:</a:t>
            </a:r>
          </a:p>
          <a:p>
            <a:pPr lvl="1"/>
            <a:r>
              <a:rPr lang="en-US" dirty="0"/>
              <a:t>Remove front/back matter you don’t want (ads, references, index)</a:t>
            </a:r>
          </a:p>
          <a:p>
            <a:pPr lvl="1"/>
            <a:r>
              <a:rPr lang="en-US" dirty="0"/>
              <a:t>Make sure text is </a:t>
            </a:r>
            <a:r>
              <a:rPr lang="en-US" dirty="0" err="1"/>
              <a:t>OCR’d</a:t>
            </a:r>
            <a:r>
              <a:rPr lang="en-US" dirty="0"/>
              <a:t> and readable</a:t>
            </a:r>
          </a:p>
          <a:p>
            <a:pPr lvl="1"/>
            <a:r>
              <a:rPr lang="en-US" dirty="0"/>
              <a:t>Fix obvious encoding issues (weird symbols, line breaks)</a:t>
            </a:r>
          </a:p>
          <a:p>
            <a:r>
              <a:rPr lang="en-US" dirty="0"/>
              <a:t>Decide what you want QA pairs about:</a:t>
            </a:r>
          </a:p>
          <a:p>
            <a:pPr lvl="1"/>
            <a:r>
              <a:rPr lang="en-US" dirty="0"/>
              <a:t>Whole book, specific chapters, or selected sections?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949850-28AC-55CE-7F51-2268C7E6B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747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27D27-283A-167F-F0E0-D21D76391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87881-AB69-A7B2-F40D-34BFF95B5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2: Ingest the Book (Chunking)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EFFC2-33FA-CC3E-C24D-00E4683E1D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Long books are too big for a single LLM prompt</a:t>
            </a:r>
          </a:p>
          <a:p>
            <a:r>
              <a:rPr lang="en-US" dirty="0"/>
              <a:t>We </a:t>
            </a:r>
            <a:r>
              <a:rPr lang="en-US" b="1" dirty="0"/>
              <a:t>split into chunks</a:t>
            </a:r>
            <a:r>
              <a:rPr lang="en-US" dirty="0"/>
              <a:t> (e.g., 512–1,000 tokens each)</a:t>
            </a:r>
          </a:p>
          <a:p>
            <a:r>
              <a:rPr lang="en-US" dirty="0"/>
              <a:t>Each chunk becomes a unit from which we generate several QA pairs</a:t>
            </a:r>
          </a:p>
          <a:p>
            <a:r>
              <a:rPr lang="en-US" dirty="0"/>
              <a:t>Sample CLI pattern (Meta Synthetic Data Kit style):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Key points:</a:t>
            </a:r>
          </a:p>
          <a:p>
            <a:pPr lvl="1"/>
            <a:r>
              <a:rPr lang="en-US" dirty="0"/>
              <a:t>Tool parses the book and writes out chunked text files</a:t>
            </a:r>
          </a:p>
          <a:p>
            <a:pPr lvl="1"/>
            <a:r>
              <a:rPr lang="en-US" dirty="0"/>
              <a:t>You can control chunk size, overlap, and metadata in the config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2F379F-9F36-7C10-49B0-CCE7D581F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BBF347-003F-5C25-2EEA-6950CC462A14}"/>
              </a:ext>
            </a:extLst>
          </p:cNvPr>
          <p:cNvSpPr txBox="1"/>
          <p:nvPr/>
        </p:nvSpPr>
        <p:spPr>
          <a:xfrm>
            <a:off x="844062" y="3877408"/>
            <a:ext cx="10234166" cy="1200329"/>
          </a:xfrm>
          <a:prstGeom prst="rect">
            <a:avLst/>
          </a:prstGeom>
          <a:solidFill>
            <a:srgbClr val="F3F3F3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 synthetic-data-kit ingest \</a:t>
            </a:r>
          </a:p>
          <a:p>
            <a:r>
              <a:rPr lang="en-US" dirty="0">
                <a:latin typeface="Consolas" panose="020B0609020204030204" pitchFamily="49" charset="0"/>
              </a:rPr>
              <a:t>  -c </a:t>
            </a:r>
            <a:r>
              <a:rPr lang="en-US" dirty="0" err="1">
                <a:latin typeface="Consolas" panose="020B0609020204030204" pitchFamily="49" charset="0"/>
              </a:rPr>
              <a:t>synthetic_data_kit_config.yaml</a:t>
            </a:r>
            <a:r>
              <a:rPr lang="en-US" dirty="0">
                <a:latin typeface="Consolas" panose="020B0609020204030204" pitchFamily="49" charset="0"/>
              </a:rPr>
              <a:t> \</a:t>
            </a:r>
          </a:p>
          <a:p>
            <a:r>
              <a:rPr lang="en-US" dirty="0">
                <a:latin typeface="Consolas" panose="020B0609020204030204" pitchFamily="49" charset="0"/>
              </a:rPr>
              <a:t>  --input-file my_book.pdf \</a:t>
            </a:r>
          </a:p>
          <a:p>
            <a:r>
              <a:rPr lang="en-US" dirty="0">
                <a:latin typeface="Consolas" panose="020B0609020204030204" pitchFamily="49" charset="0"/>
              </a:rPr>
              <a:t>  --output-</a:t>
            </a:r>
            <a:r>
              <a:rPr lang="en-US" dirty="0" err="1">
                <a:latin typeface="Consolas" panose="020B0609020204030204" pitchFamily="49" charset="0"/>
              </a:rPr>
              <a:t>dir</a:t>
            </a:r>
            <a:r>
              <a:rPr lang="en-US" dirty="0">
                <a:latin typeface="Consolas" panose="020B0609020204030204" pitchFamily="49" charset="0"/>
              </a:rPr>
              <a:t> chunks/</a:t>
            </a:r>
            <a:endParaRPr lang="en-CA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6051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78068-F186-3D69-C7DD-EE7EF4E95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83764-0C53-68A2-5C07-6E9A6F885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3: Configure QA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DA2B1-4405-8405-09A8-46AEBA2CAA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Core settings (conceptually):</a:t>
            </a:r>
          </a:p>
          <a:p>
            <a:pPr lvl="1"/>
            <a:r>
              <a:rPr lang="en-CA" b="1" dirty="0"/>
              <a:t>Model</a:t>
            </a:r>
            <a:r>
              <a:rPr lang="en-CA" dirty="0"/>
              <a:t>: llama3.2-3b (or similar)</a:t>
            </a:r>
          </a:p>
          <a:p>
            <a:pPr lvl="1"/>
            <a:r>
              <a:rPr lang="en-CA" b="1" dirty="0"/>
              <a:t>Task type</a:t>
            </a:r>
            <a:r>
              <a:rPr lang="en-CA" dirty="0"/>
              <a:t>: </a:t>
            </a:r>
            <a:r>
              <a:rPr lang="en-CA" dirty="0" err="1"/>
              <a:t>qa</a:t>
            </a:r>
            <a:endParaRPr lang="en-CA" dirty="0"/>
          </a:p>
          <a:p>
            <a:pPr lvl="1"/>
            <a:r>
              <a:rPr lang="en-CA" b="1" dirty="0"/>
              <a:t>Number of pairs</a:t>
            </a:r>
            <a:r>
              <a:rPr lang="en-CA" dirty="0"/>
              <a:t> per chunk: e.g., 10–25</a:t>
            </a:r>
          </a:p>
          <a:p>
            <a:pPr lvl="1"/>
            <a:r>
              <a:rPr lang="en-CA" b="1" dirty="0"/>
              <a:t>Prompt template</a:t>
            </a:r>
            <a:r>
              <a:rPr lang="en-CA" dirty="0"/>
              <a:t>: how we instruct the model</a:t>
            </a:r>
          </a:p>
          <a:p>
            <a:r>
              <a:rPr lang="en-CA" dirty="0"/>
              <a:t>Example configuration snippet (pseudo-YAML):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D3A4B4-ED9E-A4FD-FFD8-A41ED75A0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A562B3-D378-5F92-1F82-7391E896427B}"/>
              </a:ext>
            </a:extLst>
          </p:cNvPr>
          <p:cNvSpPr txBox="1"/>
          <p:nvPr/>
        </p:nvSpPr>
        <p:spPr>
          <a:xfrm>
            <a:off x="844062" y="4154546"/>
            <a:ext cx="10234166" cy="2585323"/>
          </a:xfrm>
          <a:prstGeom prst="rect">
            <a:avLst/>
          </a:prstGeom>
          <a:solidFill>
            <a:srgbClr val="F3F3F3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task:</a:t>
            </a:r>
          </a:p>
          <a:p>
            <a:r>
              <a:rPr lang="en-US" dirty="0">
                <a:latin typeface="Consolas" panose="020B0609020204030204" pitchFamily="49" charset="0"/>
              </a:rPr>
              <a:t>  type: "</a:t>
            </a:r>
            <a:r>
              <a:rPr lang="en-US" dirty="0" err="1">
                <a:latin typeface="Consolas" panose="020B0609020204030204" pitchFamily="49" charset="0"/>
              </a:rPr>
              <a:t>qa</a:t>
            </a:r>
            <a:r>
              <a:rPr lang="en-US" dirty="0">
                <a:latin typeface="Consolas" panose="020B0609020204030204" pitchFamily="49" charset="0"/>
              </a:rPr>
              <a:t>"</a:t>
            </a:r>
          </a:p>
          <a:p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</a:rPr>
              <a:t>num_pairs_per_chunk</a:t>
            </a:r>
            <a:r>
              <a:rPr lang="en-US" dirty="0">
                <a:latin typeface="Consolas" panose="020B0609020204030204" pitchFamily="49" charset="0"/>
              </a:rPr>
              <a:t>: 15</a:t>
            </a:r>
          </a:p>
          <a:p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</a:rPr>
              <a:t>max_input_tokens</a:t>
            </a:r>
            <a:r>
              <a:rPr lang="en-US" dirty="0">
                <a:latin typeface="Consolas" panose="020B0609020204030204" pitchFamily="49" charset="0"/>
              </a:rPr>
              <a:t>: 1024</a:t>
            </a:r>
          </a:p>
          <a:p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</a:rPr>
              <a:t>max_output_tokens</a:t>
            </a:r>
            <a:r>
              <a:rPr lang="en-US" dirty="0">
                <a:latin typeface="Consolas" panose="020B0609020204030204" pitchFamily="49" charset="0"/>
              </a:rPr>
              <a:t>: 512</a:t>
            </a:r>
          </a:p>
          <a:p>
            <a:r>
              <a:rPr lang="en-US" dirty="0">
                <a:latin typeface="Consolas" panose="020B0609020204030204" pitchFamily="49" charset="0"/>
              </a:rPr>
              <a:t>model:</a:t>
            </a:r>
          </a:p>
          <a:p>
            <a:r>
              <a:rPr lang="en-US" dirty="0">
                <a:latin typeface="Consolas" panose="020B0609020204030204" pitchFamily="49" charset="0"/>
              </a:rPr>
              <a:t>  name: "Llama-3.2-3B"</a:t>
            </a:r>
          </a:p>
          <a:p>
            <a:r>
              <a:rPr lang="en-US" dirty="0">
                <a:latin typeface="Consolas" panose="020B0609020204030204" pitchFamily="49" charset="0"/>
              </a:rPr>
              <a:t>  temperature: 0.7</a:t>
            </a:r>
          </a:p>
          <a:p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</a:rPr>
              <a:t>top_p</a:t>
            </a:r>
            <a:r>
              <a:rPr lang="en-US" dirty="0">
                <a:latin typeface="Consolas" panose="020B0609020204030204" pitchFamily="49" charset="0"/>
              </a:rPr>
              <a:t>: 0.9</a:t>
            </a:r>
          </a:p>
        </p:txBody>
      </p:sp>
    </p:spTree>
    <p:extLst>
      <p:ext uri="{BB962C8B-B14F-4D97-AF65-F5344CB8AC3E}">
        <p14:creationId xmlns:p14="http://schemas.microsoft.com/office/powerpoint/2010/main" val="2957068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5A914-9A3A-536C-0708-CC0074256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73A40-49AC-2BA0-B03F-F2CFB595F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4: Prompting the Model for QA Pairs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0B3A6-BB3E-E01F-E926-EB1424852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Core idea: give the model a </a:t>
            </a:r>
            <a:r>
              <a:rPr lang="en-US" b="1" dirty="0"/>
              <a:t>book chunk</a:t>
            </a:r>
            <a:r>
              <a:rPr lang="en-US" dirty="0"/>
              <a:t> and ask it to produce multiple QA pairs.</a:t>
            </a:r>
          </a:p>
          <a:p>
            <a:r>
              <a:rPr lang="en-US" dirty="0"/>
              <a:t>Example prompt template (simplified):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notebook automates this for each chunk, calling Llama 3.2 behind the scenes.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52ECEA-C239-AC45-0EFE-C49B9C4E6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343963-3CF0-DD24-E29F-B879DF75074C}"/>
              </a:ext>
            </a:extLst>
          </p:cNvPr>
          <p:cNvSpPr txBox="1"/>
          <p:nvPr/>
        </p:nvSpPr>
        <p:spPr>
          <a:xfrm>
            <a:off x="844062" y="3125849"/>
            <a:ext cx="10234166" cy="2585323"/>
          </a:xfrm>
          <a:prstGeom prst="rect">
            <a:avLst/>
          </a:prstGeom>
          <a:solidFill>
            <a:srgbClr val="F3F3F3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System: You are an expert tutor.</a:t>
            </a:r>
          </a:p>
          <a:p>
            <a:r>
              <a:rPr lang="en-US" dirty="0">
                <a:latin typeface="Consolas" panose="020B0609020204030204" pitchFamily="49" charset="0"/>
              </a:rPr>
              <a:t>User: You are given an excerpt from a book.</a:t>
            </a:r>
          </a:p>
          <a:p>
            <a:r>
              <a:rPr lang="en-US" dirty="0">
                <a:latin typeface="Consolas" panose="020B0609020204030204" pitchFamily="49" charset="0"/>
              </a:rPr>
              <a:t>1. Read the text.</a:t>
            </a:r>
          </a:p>
          <a:p>
            <a:r>
              <a:rPr lang="en-US" dirty="0">
                <a:latin typeface="Consolas" panose="020B0609020204030204" pitchFamily="49" charset="0"/>
              </a:rPr>
              <a:t>2. Generate high-quality question–answer pairs.</a:t>
            </a:r>
          </a:p>
          <a:p>
            <a:r>
              <a:rPr lang="en-US" dirty="0">
                <a:latin typeface="Consolas" panose="020B0609020204030204" pitchFamily="49" charset="0"/>
              </a:rPr>
              <a:t>3. Each question must be answerable only from this excerpt.</a:t>
            </a:r>
          </a:p>
          <a:p>
            <a:r>
              <a:rPr lang="en-US" dirty="0">
                <a:latin typeface="Consolas" panose="020B0609020204030204" pitchFamily="49" charset="0"/>
              </a:rPr>
              <a:t>4. Vary difficulty and question types (definition, why, how, compare).</a:t>
            </a:r>
          </a:p>
          <a:p>
            <a:r>
              <a:rPr lang="en-US" dirty="0">
                <a:latin typeface="Consolas" panose="020B0609020204030204" pitchFamily="49" charset="0"/>
              </a:rPr>
              <a:t>Text:</a:t>
            </a:r>
          </a:p>
          <a:p>
            <a:r>
              <a:rPr lang="en-US" dirty="0">
                <a:latin typeface="Consolas" panose="020B0609020204030204" pitchFamily="49" charset="0"/>
              </a:rPr>
              <a:t>{{BOOK_CHUNK}}</a:t>
            </a:r>
          </a:p>
          <a:p>
            <a:r>
              <a:rPr lang="en-US" dirty="0"/>
              <a:t>Output as a JSON list of objects with "question" and "answer".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0180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606D4-183A-1CB4-C035-B8AEEB807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357B6-66AE-1393-55C6-7AB0B0C6B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5: Run QA Generation on All Chunks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960D0-9FDE-B8D0-944D-48EC12760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Conceptual command pattern (from Synthetic Data Kit design):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What this loop is doing:</a:t>
            </a:r>
          </a:p>
          <a:p>
            <a:pPr lvl="1"/>
            <a:r>
              <a:rPr lang="en-US" dirty="0"/>
              <a:t>For each chunk file:</a:t>
            </a:r>
          </a:p>
          <a:p>
            <a:pPr lvl="2"/>
            <a:r>
              <a:rPr lang="en-US" dirty="0"/>
              <a:t>Sends text + prompt to the model</a:t>
            </a:r>
          </a:p>
          <a:p>
            <a:pPr lvl="2"/>
            <a:r>
              <a:rPr lang="en-US" dirty="0"/>
              <a:t>Receives a batch of QA pairs</a:t>
            </a:r>
          </a:p>
          <a:p>
            <a:pPr lvl="2"/>
            <a:r>
              <a:rPr lang="en-US" dirty="0"/>
              <a:t>Saves them (often as JSON / JSONL) in an output directory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71CEF9-FB7E-EE64-9814-4F73BFEC6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41114A-3D0C-594D-5F3E-BD434AE831A3}"/>
              </a:ext>
            </a:extLst>
          </p:cNvPr>
          <p:cNvSpPr txBox="1"/>
          <p:nvPr/>
        </p:nvSpPr>
        <p:spPr>
          <a:xfrm>
            <a:off x="844062" y="2202658"/>
            <a:ext cx="10234166" cy="2031325"/>
          </a:xfrm>
          <a:prstGeom prst="rect">
            <a:avLst/>
          </a:prstGeom>
          <a:solidFill>
            <a:srgbClr val="F3F3F3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for filename in chunks/*.txt; do</a:t>
            </a:r>
          </a:p>
          <a:p>
            <a:r>
              <a:rPr lang="en-US" dirty="0">
                <a:latin typeface="Consolas" panose="020B0609020204030204" pitchFamily="49" charset="0"/>
              </a:rPr>
              <a:t>  synthetic-data-kit create \</a:t>
            </a:r>
          </a:p>
          <a:p>
            <a:r>
              <a:rPr lang="en-US" dirty="0">
                <a:latin typeface="Consolas" panose="020B0609020204030204" pitchFamily="49" charset="0"/>
              </a:rPr>
              <a:t>    -c </a:t>
            </a:r>
            <a:r>
              <a:rPr lang="en-US" dirty="0" err="1">
                <a:latin typeface="Consolas" panose="020B0609020204030204" pitchFamily="49" charset="0"/>
              </a:rPr>
              <a:t>synthetic_data_kit_config.yaml</a:t>
            </a:r>
            <a:r>
              <a:rPr lang="en-US" dirty="0">
                <a:latin typeface="Consolas" panose="020B0609020204030204" pitchFamily="49" charset="0"/>
              </a:rPr>
              <a:t> \</a:t>
            </a:r>
          </a:p>
          <a:p>
            <a:r>
              <a:rPr lang="en-US" dirty="0">
                <a:latin typeface="Consolas" panose="020B0609020204030204" pitchFamily="49" charset="0"/>
              </a:rPr>
              <a:t>    create "$filename" \</a:t>
            </a:r>
          </a:p>
          <a:p>
            <a:r>
              <a:rPr lang="en-US" dirty="0">
                <a:latin typeface="Consolas" panose="020B0609020204030204" pitchFamily="49" charset="0"/>
              </a:rPr>
              <a:t>    --num-pairs 25 \</a:t>
            </a:r>
          </a:p>
          <a:p>
            <a:r>
              <a:rPr lang="en-US" dirty="0">
                <a:latin typeface="Consolas" panose="020B0609020204030204" pitchFamily="49" charset="0"/>
              </a:rPr>
              <a:t>    --type "</a:t>
            </a:r>
            <a:r>
              <a:rPr lang="en-US" dirty="0" err="1">
                <a:latin typeface="Consolas" panose="020B0609020204030204" pitchFamily="49" charset="0"/>
              </a:rPr>
              <a:t>qa</a:t>
            </a:r>
            <a:r>
              <a:rPr lang="en-US" dirty="0">
                <a:latin typeface="Consolas" panose="020B0609020204030204" pitchFamily="49" charset="0"/>
              </a:rPr>
              <a:t>"</a:t>
            </a:r>
          </a:p>
          <a:p>
            <a:r>
              <a:rPr lang="en-US" dirty="0">
                <a:latin typeface="Consolas" panose="020B0609020204030204" pitchFamily="49" charset="0"/>
              </a:rPr>
              <a:t>done</a:t>
            </a:r>
          </a:p>
        </p:txBody>
      </p:sp>
    </p:spTree>
    <p:extLst>
      <p:ext uri="{BB962C8B-B14F-4D97-AF65-F5344CB8AC3E}">
        <p14:creationId xmlns:p14="http://schemas.microsoft.com/office/powerpoint/2010/main" val="37125380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0CF19-AD5B-C935-539B-0566CCCB2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862EE-AAF6-1FAD-E539-09F3A242E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6: Inspecting &amp; Filtering QA Pairs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2AB78-AB8B-8D63-6C7F-6C8C209E57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Quality control:</a:t>
            </a:r>
          </a:p>
          <a:p>
            <a:pPr lvl="1"/>
            <a:r>
              <a:rPr lang="en-US" b="1" dirty="0" err="1"/>
              <a:t>Groundedness</a:t>
            </a:r>
            <a:r>
              <a:rPr lang="en-US" b="1" dirty="0"/>
              <a:t>: </a:t>
            </a:r>
            <a:r>
              <a:rPr lang="en-US" dirty="0"/>
              <a:t>Is the answer directly supported by the text?</a:t>
            </a:r>
          </a:p>
          <a:p>
            <a:pPr lvl="1"/>
            <a:r>
              <a:rPr lang="en-US" b="1" dirty="0"/>
              <a:t>Clarity: </a:t>
            </a:r>
            <a:r>
              <a:rPr lang="en-US" dirty="0"/>
              <a:t>Is the question understandable and unambiguous?</a:t>
            </a:r>
          </a:p>
          <a:p>
            <a:pPr lvl="1"/>
            <a:r>
              <a:rPr lang="en-US" b="1" dirty="0"/>
              <a:t>Non-triviality: </a:t>
            </a:r>
            <a:r>
              <a:rPr lang="en-US" dirty="0"/>
              <a:t>Avoid questions that just copy a sentence word-for-word</a:t>
            </a:r>
          </a:p>
          <a:p>
            <a:pPr lvl="1"/>
            <a:r>
              <a:rPr lang="en-US" b="1" dirty="0"/>
              <a:t>No hallucinations: </a:t>
            </a:r>
            <a:r>
              <a:rPr lang="en-US" dirty="0"/>
              <a:t>Remove pairs that bring in facts </a:t>
            </a:r>
            <a:r>
              <a:rPr lang="en-US" i="1" dirty="0"/>
              <a:t>not</a:t>
            </a:r>
            <a:r>
              <a:rPr lang="en-US" dirty="0"/>
              <a:t> in the chunk</a:t>
            </a:r>
          </a:p>
          <a:p>
            <a:pPr lvl="1"/>
            <a:endParaRPr lang="en-US" dirty="0"/>
          </a:p>
          <a:p>
            <a:r>
              <a:rPr lang="en-US" dirty="0"/>
              <a:t>Practical methods:</a:t>
            </a:r>
          </a:p>
          <a:p>
            <a:pPr lvl="1"/>
            <a:r>
              <a:rPr lang="en-US" dirty="0"/>
              <a:t>Automatic filters:</a:t>
            </a:r>
          </a:p>
          <a:p>
            <a:pPr lvl="2"/>
            <a:r>
              <a:rPr lang="en-US" dirty="0"/>
              <a:t>Min/max length for questions/answers</a:t>
            </a:r>
          </a:p>
          <a:p>
            <a:pPr lvl="2"/>
            <a:r>
              <a:rPr lang="en-US" dirty="0"/>
              <a:t>Deduplicate identical or highly similar questions</a:t>
            </a:r>
          </a:p>
          <a:p>
            <a:pPr lvl="1"/>
            <a:r>
              <a:rPr lang="en-US" dirty="0"/>
              <a:t>Manual spot checks:</a:t>
            </a:r>
          </a:p>
          <a:p>
            <a:pPr lvl="2"/>
            <a:r>
              <a:rPr lang="en-US" dirty="0"/>
              <a:t>Random sample 50–100 pairs and label: keep / fix / drop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BDD334-74E8-E74B-E7DC-FB7619ECA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99370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9C8AB-97C1-E0D4-662B-6188B6796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7B7F0-CFD3-3401-EBFB-3F8586049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Export to Training Format (JSONL)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9F3EB-3DED-F2BB-2539-1811A4F92D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fine-tuning workflows expect </a:t>
            </a:r>
            <a:r>
              <a:rPr lang="en-US" b="1" dirty="0"/>
              <a:t>JSONL</a:t>
            </a:r>
            <a:r>
              <a:rPr lang="en-US" dirty="0"/>
              <a:t>: one JSON object per line.</a:t>
            </a:r>
          </a:p>
          <a:p>
            <a:pPr lvl="1"/>
            <a:r>
              <a:rPr lang="en-US" dirty="0"/>
              <a:t>Common schema for instruction-tuning: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2400" dirty="0"/>
          </a:p>
          <a:p>
            <a:pPr lvl="1"/>
            <a:r>
              <a:rPr lang="en-CA" dirty="0"/>
              <a:t>Or more QA-focused:</a:t>
            </a:r>
          </a:p>
          <a:p>
            <a:endParaRPr lang="en-CA" dirty="0"/>
          </a:p>
          <a:p>
            <a:endParaRPr lang="en-CA" sz="2000" dirty="0"/>
          </a:p>
          <a:p>
            <a:pPr lvl="1"/>
            <a:r>
              <a:rPr lang="en-US" dirty="0"/>
              <a:t>You can map from the generated "question" / "answer" fields into whichever format your fine-tuning tool expects (e.g., </a:t>
            </a:r>
            <a:r>
              <a:rPr lang="en-US" dirty="0" err="1"/>
              <a:t>Unsloth</a:t>
            </a:r>
            <a:r>
              <a:rPr lang="en-US" dirty="0"/>
              <a:t>, Hugging Face, etc.).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519DB9-5249-5212-349C-5C0348FDF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C7A18E-43D0-4121-876D-F27382BCF904}"/>
              </a:ext>
            </a:extLst>
          </p:cNvPr>
          <p:cNvSpPr txBox="1"/>
          <p:nvPr/>
        </p:nvSpPr>
        <p:spPr>
          <a:xfrm>
            <a:off x="844062" y="2492806"/>
            <a:ext cx="10234166" cy="1754326"/>
          </a:xfrm>
          <a:prstGeom prst="rect">
            <a:avLst/>
          </a:prstGeom>
          <a:solidFill>
            <a:srgbClr val="F3F3F3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{"instruction": "According to the book, what is X?", </a:t>
            </a:r>
          </a:p>
          <a:p>
            <a:r>
              <a:rPr lang="en-US" dirty="0">
                <a:latin typeface="Consolas" panose="020B0609020204030204" pitchFamily="49" charset="0"/>
              </a:rPr>
              <a:t> "input": "", </a:t>
            </a:r>
          </a:p>
          <a:p>
            <a:r>
              <a:rPr lang="en-US" dirty="0">
                <a:latin typeface="Consolas" panose="020B0609020204030204" pitchFamily="49" charset="0"/>
              </a:rPr>
              <a:t> "output": "X is ..."}</a:t>
            </a:r>
          </a:p>
          <a:p>
            <a:r>
              <a:rPr lang="en-US" dirty="0">
                <a:latin typeface="Consolas" panose="020B0609020204030204" pitchFamily="49" charset="0"/>
              </a:rPr>
              <a:t>{"instruction": "Explain why Y happens in the system described.", </a:t>
            </a:r>
          </a:p>
          <a:p>
            <a:r>
              <a:rPr lang="en-US" dirty="0">
                <a:latin typeface="Consolas" panose="020B0609020204030204" pitchFamily="49" charset="0"/>
              </a:rPr>
              <a:t> "input": "", </a:t>
            </a:r>
          </a:p>
          <a:p>
            <a:r>
              <a:rPr lang="en-US" dirty="0">
                <a:latin typeface="Consolas" panose="020B0609020204030204" pitchFamily="49" charset="0"/>
              </a:rPr>
              <a:t> "output": "Y happens because ..."}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1EB5E8-FD30-DB4A-31EF-F4FF5F5C3D17}"/>
              </a:ext>
            </a:extLst>
          </p:cNvPr>
          <p:cNvSpPr txBox="1"/>
          <p:nvPr/>
        </p:nvSpPr>
        <p:spPr>
          <a:xfrm>
            <a:off x="864582" y="4896037"/>
            <a:ext cx="10234166" cy="646331"/>
          </a:xfrm>
          <a:prstGeom prst="rect">
            <a:avLst/>
          </a:prstGeom>
          <a:solidFill>
            <a:srgbClr val="F3F3F3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{"question": "What is the main cause of ...?", </a:t>
            </a:r>
          </a:p>
          <a:p>
            <a:r>
              <a:rPr lang="en-US" dirty="0">
                <a:latin typeface="Consolas" panose="020B0609020204030204" pitchFamily="49" charset="0"/>
              </a:rPr>
              <a:t> "answer": "The main cause is ..."}</a:t>
            </a:r>
          </a:p>
        </p:txBody>
      </p:sp>
    </p:spTree>
    <p:extLst>
      <p:ext uri="{BB962C8B-B14F-4D97-AF65-F5344CB8AC3E}">
        <p14:creationId xmlns:p14="http://schemas.microsoft.com/office/powerpoint/2010/main" val="2143478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35CF2-E01C-F89E-9D80-A26F1BED8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25FAA-1285-1356-ECFC-1CD4B95EC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QA Pair from a Book Chunk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E3AB5-BD81-EF3E-417D-835EB2A58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Chunk (from a textbook on project management):</a:t>
            </a:r>
          </a:p>
          <a:p>
            <a:endParaRPr lang="en-US" dirty="0"/>
          </a:p>
          <a:p>
            <a:endParaRPr lang="en-US" dirty="0"/>
          </a:p>
          <a:p>
            <a:endParaRPr lang="en-US" sz="400" dirty="0"/>
          </a:p>
          <a:p>
            <a:r>
              <a:rPr lang="en-CA" dirty="0"/>
              <a:t>Generated QA pair:</a:t>
            </a:r>
          </a:p>
          <a:p>
            <a:pPr lvl="1"/>
            <a:r>
              <a:rPr lang="en-US" b="1" dirty="0"/>
              <a:t>Question: </a:t>
            </a:r>
            <a:r>
              <a:rPr lang="en-US" dirty="0"/>
              <a:t>How do projects differ from operations in terms of duration and nature of work?</a:t>
            </a:r>
          </a:p>
          <a:p>
            <a:pPr lvl="1"/>
            <a:r>
              <a:rPr lang="en-US" b="1" dirty="0"/>
              <a:t>Answer: </a:t>
            </a:r>
            <a:r>
              <a:rPr lang="en-US" dirty="0"/>
              <a:t>Projects are temporary, with a defined beginning and end, and aim to create a unique product, service, or result. Operations are ongoing and repetitive.</a:t>
            </a:r>
          </a:p>
          <a:p>
            <a:r>
              <a:rPr lang="en-US" dirty="0"/>
              <a:t>Explain:</a:t>
            </a:r>
          </a:p>
          <a:p>
            <a:pPr lvl="1"/>
            <a:r>
              <a:rPr lang="en-US" dirty="0"/>
              <a:t>The question is </a:t>
            </a:r>
            <a:r>
              <a:rPr lang="en-US" b="1" dirty="0"/>
              <a:t>answerable only from the text</a:t>
            </a:r>
            <a:endParaRPr lang="en-US" dirty="0"/>
          </a:p>
          <a:p>
            <a:pPr lvl="1"/>
            <a:r>
              <a:rPr lang="en-US" dirty="0"/>
              <a:t>The answer is </a:t>
            </a:r>
            <a:r>
              <a:rPr lang="en-US" b="1" dirty="0"/>
              <a:t>concise, accurate, and uses the book’s information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61CC5-901B-B57C-6959-7C4141EC9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B6BBB7-DF08-4727-2173-E0B645B6B268}"/>
              </a:ext>
            </a:extLst>
          </p:cNvPr>
          <p:cNvSpPr txBox="1"/>
          <p:nvPr/>
        </p:nvSpPr>
        <p:spPr>
          <a:xfrm>
            <a:off x="864582" y="2214385"/>
            <a:ext cx="10234166" cy="923330"/>
          </a:xfrm>
          <a:prstGeom prst="rect">
            <a:avLst/>
          </a:prstGeom>
          <a:solidFill>
            <a:srgbClr val="F3F3F3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Projects are temporary endeavors undertaken to create a unique product, service, or result. Unlike operations, which are ongoing and repetitive, projects have a defined beginning and end.</a:t>
            </a:r>
          </a:p>
        </p:txBody>
      </p:sp>
    </p:spTree>
    <p:extLst>
      <p:ext uri="{BB962C8B-B14F-4D97-AF65-F5344CB8AC3E}">
        <p14:creationId xmlns:p14="http://schemas.microsoft.com/office/powerpoint/2010/main" val="26661700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317C1-2156-0763-28C1-309311C4D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F8265-96C5-D9F3-9B7D-F893DF8B2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Practices for QA Generation from Books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6806D-AA04-607A-C6D0-E863A94F17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over the whole book:</a:t>
            </a:r>
          </a:p>
          <a:p>
            <a:pPr lvl="1"/>
            <a:r>
              <a:rPr lang="en-US" dirty="0"/>
              <a:t>Ensure every chapter/section gets some QA pairs</a:t>
            </a:r>
          </a:p>
          <a:p>
            <a:r>
              <a:rPr lang="en-US" dirty="0"/>
              <a:t>Vary difficulty:</a:t>
            </a:r>
          </a:p>
          <a:p>
            <a:pPr lvl="1"/>
            <a:r>
              <a:rPr lang="en-US" dirty="0"/>
              <a:t>Easy: definitions, “what is…”</a:t>
            </a:r>
          </a:p>
          <a:p>
            <a:pPr lvl="1"/>
            <a:r>
              <a:rPr lang="en-US" dirty="0"/>
              <a:t>Medium: “why / how” explanations</a:t>
            </a:r>
          </a:p>
          <a:p>
            <a:pPr lvl="1"/>
            <a:r>
              <a:rPr lang="en-US" dirty="0"/>
              <a:t>Hard: compare/contrast, implications, mini-case questions</a:t>
            </a:r>
          </a:p>
          <a:p>
            <a:r>
              <a:rPr lang="en-US" dirty="0"/>
              <a:t>Control style:</a:t>
            </a:r>
          </a:p>
          <a:p>
            <a:pPr lvl="1"/>
            <a:r>
              <a:rPr lang="en-US" dirty="0"/>
              <a:t>Decide if you want short answers, paragraph answers, or step-by-step reasoning</a:t>
            </a:r>
          </a:p>
          <a:p>
            <a:r>
              <a:rPr lang="en-US" dirty="0"/>
              <a:t>Ethics &amp; copyright:</a:t>
            </a:r>
          </a:p>
          <a:p>
            <a:pPr lvl="1"/>
            <a:r>
              <a:rPr lang="en-US" dirty="0"/>
              <a:t>Ensure you’re allowed to use the book for data generation</a:t>
            </a:r>
          </a:p>
          <a:p>
            <a:pPr lvl="1"/>
            <a:r>
              <a:rPr lang="en-US" dirty="0"/>
              <a:t>Be careful with sensitive or personally identifiable information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77D031-22E7-60F7-8BEE-B84DCFD4D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44108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36BDA-058B-3843-2821-33BD727D5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7D6FF-4E49-3623-2638-7F6F20B14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Connecting to Fine-Tuning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821A1-C1A8-3D09-D55C-559417E15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Take your final JSONL dataset of QA pairs</a:t>
            </a:r>
          </a:p>
          <a:p>
            <a:r>
              <a:rPr lang="en-US" dirty="0"/>
              <a:t>Use </a:t>
            </a:r>
            <a:r>
              <a:rPr lang="en-US" dirty="0" err="1"/>
              <a:t>Unsloth</a:t>
            </a:r>
            <a:r>
              <a:rPr lang="en-US" dirty="0"/>
              <a:t> / another framework to fine-tune:</a:t>
            </a:r>
          </a:p>
          <a:p>
            <a:pPr lvl="1"/>
            <a:r>
              <a:rPr lang="en-US" dirty="0"/>
              <a:t>Load base model (e.g., Llama 3.2 3B)</a:t>
            </a:r>
          </a:p>
          <a:p>
            <a:pPr lvl="1"/>
            <a:r>
              <a:rPr lang="en-US" dirty="0"/>
              <a:t>Apply PEFT / </a:t>
            </a:r>
            <a:r>
              <a:rPr lang="en-US" dirty="0" err="1"/>
              <a:t>LoRA</a:t>
            </a:r>
            <a:r>
              <a:rPr lang="en-US" dirty="0"/>
              <a:t> for efficient fine-tuning</a:t>
            </a:r>
          </a:p>
          <a:p>
            <a:pPr lvl="1"/>
            <a:r>
              <a:rPr lang="en-US" dirty="0"/>
              <a:t>Train on your QA pairs to specialize the model on that book</a:t>
            </a:r>
          </a:p>
          <a:p>
            <a:endParaRPr lang="en-US" dirty="0"/>
          </a:p>
          <a:p>
            <a:r>
              <a:rPr lang="en-US" b="1" dirty="0"/>
              <a:t>Result: </a:t>
            </a:r>
            <a:r>
              <a:rPr lang="en-US" dirty="0"/>
              <a:t>a compact model that answers questions like an expert on that book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3EE2D9-A96D-FE30-3BEA-A865073AA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50965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D33AF-69DF-56A3-185B-5B1E7B818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1C4E9-1A65-A04F-260F-97150B3D6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Presentation: Supervised Fine-Tuning (SFT)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03810-660D-7379-5223-270FB159E5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Coming Up Next: </a:t>
            </a:r>
            <a:r>
              <a:rPr lang="en-US" dirty="0"/>
              <a:t>How to train LLMs using your QA dataset.</a:t>
            </a:r>
          </a:p>
          <a:p>
            <a:r>
              <a:rPr lang="en-CA" b="1" dirty="0"/>
              <a:t>Content:</a:t>
            </a:r>
            <a:endParaRPr lang="en-US" b="1" dirty="0"/>
          </a:p>
          <a:p>
            <a:pPr lvl="1"/>
            <a:r>
              <a:rPr lang="en-US" dirty="0"/>
              <a:t>Load QA dataset into </a:t>
            </a:r>
            <a:r>
              <a:rPr lang="en-US" dirty="0" err="1"/>
              <a:t>Unsloth</a:t>
            </a:r>
            <a:endParaRPr lang="en-US" dirty="0"/>
          </a:p>
          <a:p>
            <a:pPr lvl="1"/>
            <a:r>
              <a:rPr lang="en-US" dirty="0"/>
              <a:t>Apply </a:t>
            </a:r>
            <a:r>
              <a:rPr lang="en-US" dirty="0" err="1"/>
              <a:t>LoRA</a:t>
            </a:r>
            <a:r>
              <a:rPr lang="en-US" dirty="0"/>
              <a:t> / PEFT</a:t>
            </a:r>
          </a:p>
          <a:p>
            <a:pPr lvl="1"/>
            <a:r>
              <a:rPr lang="en-US" dirty="0"/>
              <a:t>Train the model with SFT</a:t>
            </a:r>
          </a:p>
          <a:p>
            <a:pPr lvl="1"/>
            <a:r>
              <a:rPr lang="en-US" dirty="0"/>
              <a:t>Evaluate and export the fine-tuned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50FD5-BA33-6B55-3946-27DB76FE8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8016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41285-92FB-DA08-6F24-33DF70A14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E8C4E-7088-05B7-17C0-C3F684F0B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4D264-8ECA-2E25-47DB-E6400E04EC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“Fine-Tuning LLMs Guide | </a:t>
            </a:r>
            <a:r>
              <a:rPr lang="en-CA" dirty="0" err="1"/>
              <a:t>Unsloth</a:t>
            </a:r>
            <a:r>
              <a:rPr lang="en-CA" dirty="0"/>
              <a:t> Documentation.” 2026. https://unsloth.ai/docs/get-started/fine-tuning-llms-guide (January 20, 2026).</a:t>
            </a:r>
          </a:p>
          <a:p>
            <a:r>
              <a:rPr lang="en-CA" dirty="0"/>
              <a:t>“Manage Access · </a:t>
            </a:r>
            <a:r>
              <a:rPr lang="en-CA" dirty="0" err="1"/>
              <a:t>Epmresearch</a:t>
            </a:r>
            <a:r>
              <a:rPr lang="en-CA" dirty="0"/>
              <a:t>/HPC-Tutorial.” </a:t>
            </a:r>
            <a:r>
              <a:rPr lang="en-CA" i="1" dirty="0"/>
              <a:t>GitHub</a:t>
            </a:r>
            <a:r>
              <a:rPr lang="en-CA" dirty="0"/>
              <a:t>. https://github.com/epmresearch/HPC-Tutorial (January 20, 2026).</a:t>
            </a:r>
          </a:p>
          <a:p>
            <a:r>
              <a:rPr lang="en-CA" dirty="0"/>
              <a:t>“Meta-Llama/Synthetic-Data-Kit.” 2026. https://github.com/meta-llama/synthetic-data-kit (January 20, 2026).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F28110-AA3F-2088-89E6-57707BB82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87562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Calgary 2">
      <a:dk1>
        <a:srgbClr val="000000"/>
      </a:dk1>
      <a:lt1>
        <a:srgbClr val="FFFFFF"/>
      </a:lt1>
      <a:dk2>
        <a:srgbClr val="8C857B"/>
      </a:dk2>
      <a:lt2>
        <a:srgbClr val="C3BFB6"/>
      </a:lt2>
      <a:accent1>
        <a:srgbClr val="EE2C2A"/>
      </a:accent1>
      <a:accent2>
        <a:srgbClr val="FFA300"/>
      </a:accent2>
      <a:accent3>
        <a:srgbClr val="FF671F"/>
      </a:accent3>
      <a:accent4>
        <a:srgbClr val="46A67B"/>
      </a:accent4>
      <a:accent5>
        <a:srgbClr val="EC0971"/>
      </a:accent5>
      <a:accent6>
        <a:srgbClr val="9C0533"/>
      </a:accent6>
      <a:hlink>
        <a:srgbClr val="D6001C"/>
      </a:hlink>
      <a:folHlink>
        <a:srgbClr val="8C857B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old - Widescreen" id="{BDE806B9-D085-0547-8443-536EF56E10D0}" vid="{A3112E41-4A82-8045-91CC-360E8E79276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A14D9A0FA515564792FEACC70AB1043E" ma:contentTypeVersion="15" ma:contentTypeDescription="Create a new document." ma:contentTypeScope="" ma:versionID="268d53061a527a1a15b3a06f324de7ac">
  <xsd:schema xmlns:xsd="http://www.w3.org/2001/XMLSchema" xmlns:xs="http://www.w3.org/2001/XMLSchema" xmlns:p="http://schemas.microsoft.com/office/2006/metadata/properties" xmlns:ns2="7a4191d5-9b76-4ae3-8401-87ceee92a846" xmlns:ns3="b9b0194d-1e98-4efc-bad5-9450f4bf7a13" targetNamespace="http://schemas.microsoft.com/office/2006/metadata/properties" ma:root="true" ma:fieldsID="602eb0f4584b499882d83f15ecf09c65" ns2:_="" ns3:_="">
    <xsd:import namespace="7a4191d5-9b76-4ae3-8401-87ceee92a846"/>
    <xsd:import namespace="b9b0194d-1e98-4efc-bad5-9450f4bf7a13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4191d5-9b76-4ae3-8401-87ceee92a84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共享对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共享对象详细信息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7976da6b-3754-4ea3-9a44-9d844208727a}" ma:internalName="TaxCatchAll" ma:showField="CatchAllData" ma:web="7a4191d5-9b76-4ae3-8401-87ceee92a84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b0194d-1e98-4efc-bad5-9450f4bf7a1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图像标记" ma:readOnly="false" ma:fieldId="{5cf76f15-5ced-4ddc-b409-7134ff3c332f}" ma:taxonomyMulti="true" ma:sspId="3d23ff3b-8b4b-4ebe-81e4-de565bb03cb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7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a4191d5-9b76-4ae3-8401-87ceee92a846">
      <UserInfo>
        <DisplayName>Office Of Advancement Visitors</DisplayName>
        <AccountId>4</AccountId>
        <AccountType/>
      </UserInfo>
      <UserInfo>
        <DisplayName>UCalgary Brand</DisplayName>
        <AccountId>15</AccountId>
        <AccountType/>
      </UserInfo>
    </SharedWithUsers>
    <TaxCatchAll xmlns="7a4191d5-9b76-4ae3-8401-87ceee92a846" xsi:nil="true"/>
    <lcf76f155ced4ddcb4097134ff3c332f xmlns="b9b0194d-1e98-4efc-bad5-9450f4bf7a1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8C4D92C-5791-4EB8-90FF-890DA693333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a4191d5-9b76-4ae3-8401-87ceee92a846"/>
    <ds:schemaRef ds:uri="b9b0194d-1e98-4efc-bad5-9450f4bf7a1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7A4AE25-BBA1-49A6-B4F8-E97286BA017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0B8F560-7E6C-44AE-AFE4-924D1118F0AA}">
  <ds:schemaRefs>
    <ds:schemaRef ds:uri="http://schemas.microsoft.com/office/2006/metadata/properties"/>
    <ds:schemaRef ds:uri="http://schemas.microsoft.com/office/infopath/2007/PartnerControls"/>
    <ds:schemaRef ds:uri="7a4191d5-9b76-4ae3-8401-87ceee92a846"/>
    <ds:schemaRef ds:uri="b9b0194d-1e98-4efc-bad5-9450f4bf7a1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01-QA pairs</Template>
  <TotalTime>110</TotalTime>
  <Words>1351</Words>
  <Application>Microsoft Office PowerPoint</Application>
  <PresentationFormat>Widescreen</PresentationFormat>
  <Paragraphs>194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Office Theme</vt:lpstr>
      <vt:lpstr>How to Create High-Quality Q&amp;A Pairs from a Book</vt:lpstr>
      <vt:lpstr>From Book to Q&amp;A Dataset</vt:lpstr>
      <vt:lpstr>Why Create QA Pairs from a Book?</vt:lpstr>
      <vt:lpstr>High-Level Pipeline</vt:lpstr>
      <vt:lpstr>Step 1: Prepare the Book</vt:lpstr>
      <vt:lpstr>Step 2: Ingest the Book (Chunking)</vt:lpstr>
      <vt:lpstr>Step 3: Configure QA Generation</vt:lpstr>
      <vt:lpstr>Step 4: Prompting the Model for QA Pairs</vt:lpstr>
      <vt:lpstr>Step 5: Run QA Generation on All Chunks</vt:lpstr>
      <vt:lpstr>Step 6: Inspecting &amp; Filtering QA Pairs</vt:lpstr>
      <vt:lpstr>Export to Training Format (JSONL)</vt:lpstr>
      <vt:lpstr>Example QA Pair from a Book Chunk</vt:lpstr>
      <vt:lpstr>Best Practices for QA Generation from Books</vt:lpstr>
      <vt:lpstr>Connecting to Fine-Tuning</vt:lpstr>
      <vt:lpstr>Next Presentation: Supervised Fine-Tuning (SFT)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Khashayar Ghorab</dc:creator>
  <cp:lastModifiedBy>Khashayar Ghorab</cp:lastModifiedBy>
  <cp:revision>1</cp:revision>
  <dcterms:created xsi:type="dcterms:W3CDTF">2026-01-20T17:43:09Z</dcterms:created>
  <dcterms:modified xsi:type="dcterms:W3CDTF">2026-01-20T19:48:03Z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0x010100A14D9A0FA515564792FEACC70AB1043E</vt:lpwstr>
  </property>
  <property fmtid="{D5CDD505-2E9C-101B-9397-08002B2CF9AE}" pid="3" name="Order">
    <vt:r8>20600</vt:r8>
  </property>
</Properties>
</file>